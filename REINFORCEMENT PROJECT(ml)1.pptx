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70D1C-D5A6-4BC1-84F7-C0BD8744FF70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C1A2A-CE68-436F-AC10-310EEC7D8E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2212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70D1C-D5A6-4BC1-84F7-C0BD8744FF70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C1A2A-CE68-436F-AC10-310EEC7D8E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2646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70D1C-D5A6-4BC1-84F7-C0BD8744FF70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C1A2A-CE68-436F-AC10-310EEC7D8E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74375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70D1C-D5A6-4BC1-84F7-C0BD8744FF70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C1A2A-CE68-436F-AC10-310EEC7D8E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2842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70D1C-D5A6-4BC1-84F7-C0BD8744FF70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C1A2A-CE68-436F-AC10-310EEC7D8E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1651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70D1C-D5A6-4BC1-84F7-C0BD8744FF70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C1A2A-CE68-436F-AC10-310EEC7D8E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78422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70D1C-D5A6-4BC1-84F7-C0BD8744FF70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C1A2A-CE68-436F-AC10-310EEC7D8E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5215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70D1C-D5A6-4BC1-84F7-C0BD8744FF70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C1A2A-CE68-436F-AC10-310EEC7D8E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6817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70D1C-D5A6-4BC1-84F7-C0BD8744FF70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C1A2A-CE68-436F-AC10-310EEC7D8E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121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70D1C-D5A6-4BC1-84F7-C0BD8744FF70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C1A2A-CE68-436F-AC10-310EEC7D8E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60351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70D1C-D5A6-4BC1-84F7-C0BD8744FF70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C1A2A-CE68-436F-AC10-310EEC7D8E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42652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70D1C-D5A6-4BC1-84F7-C0BD8744FF70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C1A2A-CE68-436F-AC10-310EEC7D8E73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571546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70D1C-D5A6-4BC1-84F7-C0BD8744FF70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C1A2A-CE68-436F-AC10-310EEC7D8E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02906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70D1C-D5A6-4BC1-84F7-C0BD8744FF70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C1A2A-CE68-436F-AC10-310EEC7D8E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84373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70D1C-D5A6-4BC1-84F7-C0BD8744FF70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C1A2A-CE68-436F-AC10-310EEC7D8E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15458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70D1C-D5A6-4BC1-84F7-C0BD8744FF70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C1A2A-CE68-436F-AC10-310EEC7D8E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96539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70D1C-D5A6-4BC1-84F7-C0BD8744FF70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C1A2A-CE68-436F-AC10-310EEC7D8E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5959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93870D1C-D5A6-4BC1-84F7-C0BD8744FF70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4C1A2A-CE68-436F-AC10-310EEC7D8E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305183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92" r:id="rId1"/>
    <p:sldLayoutId id="2147483793" r:id="rId2"/>
    <p:sldLayoutId id="2147483794" r:id="rId3"/>
    <p:sldLayoutId id="2147483795" r:id="rId4"/>
    <p:sldLayoutId id="2147483796" r:id="rId5"/>
    <p:sldLayoutId id="2147483797" r:id="rId6"/>
    <p:sldLayoutId id="2147483798" r:id="rId7"/>
    <p:sldLayoutId id="2147483799" r:id="rId8"/>
    <p:sldLayoutId id="2147483800" r:id="rId9"/>
    <p:sldLayoutId id="2147483801" r:id="rId10"/>
    <p:sldLayoutId id="2147483802" r:id="rId11"/>
    <p:sldLayoutId id="2147483803" r:id="rId12"/>
    <p:sldLayoutId id="2147483804" r:id="rId13"/>
    <p:sldLayoutId id="2147483805" r:id="rId14"/>
    <p:sldLayoutId id="2147483806" r:id="rId15"/>
    <p:sldLayoutId id="2147483807" r:id="rId16"/>
    <p:sldLayoutId id="2147483808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CCB67-343F-8A26-CE3D-8710EF4C82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364567"/>
            <a:ext cx="9331148" cy="2912012"/>
          </a:xfrm>
        </p:spPr>
        <p:txBody>
          <a:bodyPr/>
          <a:lstStyle/>
          <a:p>
            <a:pPr algn="ctr"/>
            <a:r>
              <a:rPr lang="en-US" sz="2000" b="1" dirty="0"/>
              <a:t>REINFORCEMENT PROJECT</a:t>
            </a:r>
            <a:br>
              <a:rPr lang="en-US" sz="2000" dirty="0"/>
            </a:br>
            <a:r>
              <a:rPr lang="en-US" sz="2000" b="1" dirty="0"/>
              <a:t>IPL Match Winner Prediction Using Machine Learning</a:t>
            </a:r>
            <a:br>
              <a:rPr lang="en-US" sz="2000" dirty="0"/>
            </a:br>
            <a:r>
              <a:rPr lang="en-US" sz="2000" b="1" dirty="0"/>
              <a:t>Prepared by:</a:t>
            </a:r>
            <a:r>
              <a:rPr lang="en-US" sz="2000" dirty="0"/>
              <a:t> ASHWATH J L </a:t>
            </a:r>
            <a:br>
              <a:rPr lang="en-US" sz="2000" dirty="0"/>
            </a:br>
            <a:r>
              <a:rPr lang="en-US" sz="2000" b="1" dirty="0"/>
              <a:t>Course:</a:t>
            </a:r>
            <a:r>
              <a:rPr lang="en-US" sz="2000" dirty="0"/>
              <a:t> Data Analytics and Data Science</a:t>
            </a:r>
            <a:br>
              <a:rPr lang="en-US" sz="2000" dirty="0"/>
            </a:br>
            <a:r>
              <a:rPr lang="en-US" sz="2000" b="1" dirty="0"/>
              <a:t>Batch:</a:t>
            </a:r>
            <a:r>
              <a:rPr lang="en-US" sz="2000" dirty="0"/>
              <a:t> August – 2025</a:t>
            </a:r>
            <a:br>
              <a:rPr lang="en-US" sz="2000" dirty="0"/>
            </a:b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605725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A477B80-24DE-0226-7CBE-70F3F2CC4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1371600"/>
            <a:ext cx="8825658" cy="42672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Introduction</a:t>
            </a:r>
          </a:p>
          <a:p>
            <a:r>
              <a:rPr lang="en-US" dirty="0">
                <a:solidFill>
                  <a:schemeClr val="tx1"/>
                </a:solidFill>
              </a:rPr>
              <a:t>Indian Premier League (IPL) is one of the most popular T20 cricket leagues.</a:t>
            </a:r>
          </a:p>
          <a:p>
            <a:r>
              <a:rPr lang="en-US" dirty="0">
                <a:solidFill>
                  <a:schemeClr val="tx1"/>
                </a:solidFill>
              </a:rPr>
              <a:t>Match outcome prediction is complex due to: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Team combinations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Toss decisions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Venues and seasons</a:t>
            </a:r>
          </a:p>
          <a:p>
            <a:r>
              <a:rPr lang="en-US" dirty="0">
                <a:solidFill>
                  <a:schemeClr val="tx1"/>
                </a:solidFill>
              </a:rPr>
              <a:t>Machine learning provides a data-driven approach for prediction.</a:t>
            </a:r>
          </a:p>
          <a:p>
            <a:r>
              <a:rPr lang="en-US" dirty="0">
                <a:solidFill>
                  <a:schemeClr val="tx1"/>
                </a:solidFill>
              </a:rPr>
              <a:t>This project builds an </a:t>
            </a:r>
            <a:r>
              <a:rPr lang="en-US" b="1" dirty="0">
                <a:solidFill>
                  <a:schemeClr val="tx1"/>
                </a:solidFill>
              </a:rPr>
              <a:t>end-to-end ML pipeline</a:t>
            </a:r>
            <a:r>
              <a:rPr lang="en-US" dirty="0">
                <a:solidFill>
                  <a:schemeClr val="tx1"/>
                </a:solidFill>
              </a:rPr>
              <a:t> to predict match winners.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94722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57752-356B-207F-841D-13A6387CE2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2800" b="1" dirty="0"/>
              <a:t>Project Objective</a:t>
            </a:r>
            <a:br>
              <a:rPr lang="en-US" sz="1800" b="1" dirty="0"/>
            </a:br>
            <a:br>
              <a:rPr lang="en-US" sz="1800" b="1" dirty="0"/>
            </a:br>
            <a:br>
              <a:rPr lang="en-US" sz="1800" b="1" dirty="0"/>
            </a:br>
            <a:br>
              <a:rPr lang="en-US" sz="1800" b="1" dirty="0"/>
            </a:br>
            <a:r>
              <a:rPr lang="en-US" sz="1800" dirty="0"/>
              <a:t>Predict the winner of an IPL match </a:t>
            </a:r>
            <a:r>
              <a:rPr lang="en-US" sz="1800" b="1" dirty="0"/>
              <a:t>before it is played</a:t>
            </a:r>
            <a:br>
              <a:rPr lang="en-US" sz="1800" dirty="0"/>
            </a:br>
            <a:r>
              <a:rPr lang="en-US" sz="1800" dirty="0"/>
              <a:t>Use historical IPL match data</a:t>
            </a:r>
            <a:br>
              <a:rPr lang="en-US" sz="1800" dirty="0"/>
            </a:br>
            <a:r>
              <a:rPr lang="en-US" sz="1800" dirty="0"/>
              <a:t>Compare multiple machine learning algorithms</a:t>
            </a:r>
            <a:br>
              <a:rPr lang="en-US" sz="1800" dirty="0"/>
            </a:br>
            <a:r>
              <a:rPr lang="en-US" sz="1800" dirty="0"/>
              <a:t>Identify the best-performing predictive model</a:t>
            </a:r>
            <a:br>
              <a:rPr lang="en-US" sz="1800" dirty="0"/>
            </a:b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6755120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8759E-5FE0-E6C5-C069-565CD30769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884903"/>
            <a:ext cx="8825658" cy="4517372"/>
          </a:xfrm>
        </p:spPr>
        <p:txBody>
          <a:bodyPr>
            <a:normAutofit fontScale="9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Problem Statement</a:t>
            </a:r>
            <a:br>
              <a:rPr lang="en-US" sz="1800" b="1" dirty="0"/>
            </a:br>
            <a:br>
              <a:rPr lang="en-US" sz="1800" b="1" dirty="0"/>
            </a:br>
            <a:r>
              <a:rPr lang="en-US" sz="1800" b="1" dirty="0"/>
              <a:t>Binary Classification Problem</a:t>
            </a:r>
            <a:br>
              <a:rPr lang="en-US" sz="1800" b="1" dirty="0"/>
            </a:br>
            <a:br>
              <a:rPr lang="en-US" sz="1800" dirty="0"/>
            </a:br>
            <a:r>
              <a:rPr lang="en-US" sz="1800" dirty="0"/>
              <a:t>Predict whether </a:t>
            </a:r>
            <a:r>
              <a:rPr lang="en-US" sz="1800" b="1" dirty="0"/>
              <a:t>Team 1 or Team 2</a:t>
            </a:r>
            <a:r>
              <a:rPr lang="en-US" sz="1800" dirty="0"/>
              <a:t> will win</a:t>
            </a:r>
            <a:br>
              <a:rPr lang="en-US" sz="1800" dirty="0"/>
            </a:br>
            <a:r>
              <a:rPr lang="en-US" sz="1800" dirty="0"/>
              <a:t>Based on:</a:t>
            </a:r>
            <a:br>
              <a:rPr lang="en-US" sz="1800" dirty="0"/>
            </a:br>
            <a:br>
              <a:rPr lang="en-US" sz="1800" dirty="0"/>
            </a:br>
            <a:r>
              <a:rPr lang="en-US" sz="1800" dirty="0"/>
              <a:t>Teams playing</a:t>
            </a:r>
            <a:br>
              <a:rPr lang="en-US" sz="1800" dirty="0"/>
            </a:br>
            <a:r>
              <a:rPr lang="en-US" sz="1800" dirty="0"/>
              <a:t>Toss winner &amp; decision</a:t>
            </a:r>
            <a:br>
              <a:rPr lang="en-US" sz="1800" dirty="0"/>
            </a:br>
            <a:r>
              <a:rPr lang="en-US" sz="1800" dirty="0"/>
              <a:t>Venue</a:t>
            </a:r>
            <a:br>
              <a:rPr lang="en-US" sz="1800" dirty="0"/>
            </a:br>
            <a:r>
              <a:rPr lang="en-US" sz="1800" dirty="0"/>
              <a:t>Season</a:t>
            </a:r>
            <a:br>
              <a:rPr lang="en-US" sz="1800" dirty="0"/>
            </a:br>
            <a:br>
              <a:rPr lang="en-US" sz="1800" dirty="0"/>
            </a:br>
            <a:r>
              <a:rPr lang="en-US" sz="1800" dirty="0"/>
              <a:t>Challenges:</a:t>
            </a:r>
            <a:br>
              <a:rPr lang="en-US" sz="1800" dirty="0"/>
            </a:br>
            <a:br>
              <a:rPr lang="en-US" sz="1800" dirty="0"/>
            </a:br>
            <a:r>
              <a:rPr lang="en-US" sz="1800" dirty="0"/>
              <a:t>Categorical data</a:t>
            </a:r>
            <a:br>
              <a:rPr lang="en-US" sz="1800" dirty="0"/>
            </a:br>
            <a:r>
              <a:rPr lang="en-US" sz="1800" dirty="0"/>
              <a:t>Missing values</a:t>
            </a:r>
            <a:br>
              <a:rPr lang="en-US" sz="1800" dirty="0"/>
            </a:br>
            <a:r>
              <a:rPr lang="en-US" sz="1800" dirty="0"/>
              <a:t>Class imbalance</a:t>
            </a:r>
            <a:br>
              <a:rPr lang="en-US" sz="1800" dirty="0"/>
            </a:br>
            <a:r>
              <a:rPr lang="en-US" sz="1800" dirty="0"/>
              <a:t>Model selection</a:t>
            </a:r>
            <a:br>
              <a:rPr lang="en-US" sz="1800" dirty="0"/>
            </a:b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3921211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4604EF5-CD24-532D-2BB6-891F2BF020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1533832"/>
            <a:ext cx="8825658" cy="4104968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Dataset Overview</a:t>
            </a:r>
          </a:p>
          <a:p>
            <a:endParaRPr lang="en-US" b="1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Historical IPL match dataset</a:t>
            </a:r>
          </a:p>
          <a:p>
            <a:r>
              <a:rPr lang="en-US" dirty="0">
                <a:solidFill>
                  <a:schemeClr val="tx1"/>
                </a:solidFill>
              </a:rPr>
              <a:t>Each row represents one match</a:t>
            </a:r>
          </a:p>
          <a:p>
            <a:r>
              <a:rPr lang="en-US" dirty="0">
                <a:solidFill>
                  <a:schemeClr val="tx1"/>
                </a:solidFill>
              </a:rPr>
              <a:t>Data collected across multiple seasons</a:t>
            </a:r>
          </a:p>
          <a:p>
            <a:r>
              <a:rPr lang="en-US" dirty="0">
                <a:solidFill>
                  <a:schemeClr val="tx1"/>
                </a:solidFill>
              </a:rPr>
              <a:t>Used for supervised learning</a:t>
            </a:r>
          </a:p>
          <a:p>
            <a:endParaRPr lang="en-IN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37818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602B4CA-2DF5-FA02-C861-D0154CE727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1504335"/>
            <a:ext cx="8825658" cy="361335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Key Features</a:t>
            </a:r>
          </a:p>
          <a:p>
            <a:r>
              <a:rPr lang="en-US" b="1" dirty="0">
                <a:solidFill>
                  <a:schemeClr val="tx1"/>
                </a:solidFill>
              </a:rPr>
              <a:t>team1</a:t>
            </a:r>
            <a:r>
              <a:rPr lang="en-US" dirty="0">
                <a:solidFill>
                  <a:schemeClr val="tx1"/>
                </a:solidFill>
              </a:rPr>
              <a:t> – First team</a:t>
            </a:r>
          </a:p>
          <a:p>
            <a:r>
              <a:rPr lang="en-US" b="1" dirty="0">
                <a:solidFill>
                  <a:schemeClr val="tx1"/>
                </a:solidFill>
              </a:rPr>
              <a:t>team2</a:t>
            </a:r>
            <a:r>
              <a:rPr lang="en-US" dirty="0">
                <a:solidFill>
                  <a:schemeClr val="tx1"/>
                </a:solidFill>
              </a:rPr>
              <a:t> – Second team</a:t>
            </a:r>
          </a:p>
          <a:p>
            <a:r>
              <a:rPr lang="en-US" b="1" dirty="0" err="1">
                <a:solidFill>
                  <a:schemeClr val="tx1"/>
                </a:solidFill>
              </a:rPr>
              <a:t>toss_winner</a:t>
            </a:r>
            <a:r>
              <a:rPr lang="en-US" dirty="0">
                <a:solidFill>
                  <a:schemeClr val="tx1"/>
                </a:solidFill>
              </a:rPr>
              <a:t> – Toss winning team</a:t>
            </a:r>
          </a:p>
          <a:p>
            <a:r>
              <a:rPr lang="en-US" b="1" dirty="0" err="1">
                <a:solidFill>
                  <a:schemeClr val="tx1"/>
                </a:solidFill>
              </a:rPr>
              <a:t>toss_decision</a:t>
            </a:r>
            <a:r>
              <a:rPr lang="en-US" dirty="0">
                <a:solidFill>
                  <a:schemeClr val="tx1"/>
                </a:solidFill>
              </a:rPr>
              <a:t> – Bat or Field</a:t>
            </a:r>
          </a:p>
          <a:p>
            <a:r>
              <a:rPr lang="en-US" b="1" dirty="0">
                <a:solidFill>
                  <a:schemeClr val="tx1"/>
                </a:solidFill>
              </a:rPr>
              <a:t>venue</a:t>
            </a:r>
            <a:r>
              <a:rPr lang="en-US" dirty="0">
                <a:solidFill>
                  <a:schemeClr val="tx1"/>
                </a:solidFill>
              </a:rPr>
              <a:t> – Match stadium</a:t>
            </a:r>
          </a:p>
          <a:p>
            <a:r>
              <a:rPr lang="en-US" b="1" dirty="0">
                <a:solidFill>
                  <a:schemeClr val="tx1"/>
                </a:solidFill>
              </a:rPr>
              <a:t>season</a:t>
            </a:r>
            <a:r>
              <a:rPr lang="en-US" dirty="0">
                <a:solidFill>
                  <a:schemeClr val="tx1"/>
                </a:solidFill>
              </a:rPr>
              <a:t> – IPL year</a:t>
            </a:r>
          </a:p>
          <a:p>
            <a:r>
              <a:rPr lang="en-US" b="1" dirty="0">
                <a:solidFill>
                  <a:schemeClr val="tx1"/>
                </a:solidFill>
              </a:rPr>
              <a:t>winner</a:t>
            </a:r>
            <a:r>
              <a:rPr lang="en-US" dirty="0">
                <a:solidFill>
                  <a:schemeClr val="tx1"/>
                </a:solidFill>
              </a:rPr>
              <a:t> – Match winner (Target)</a:t>
            </a:r>
          </a:p>
          <a:p>
            <a:endParaRPr lang="en-IN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6649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4EE86C2-A39C-BBEE-CEE4-663976EAEC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1991032"/>
            <a:ext cx="8825658" cy="3647768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Data Loading &amp; Understanding</a:t>
            </a:r>
          </a:p>
          <a:p>
            <a:r>
              <a:rPr lang="en-US" dirty="0">
                <a:solidFill>
                  <a:schemeClr val="tx1"/>
                </a:solidFill>
              </a:rPr>
              <a:t>Loaded using </a:t>
            </a:r>
            <a:r>
              <a:rPr lang="en-US" b="1" dirty="0">
                <a:solidFill>
                  <a:schemeClr val="tx1"/>
                </a:solidFill>
              </a:rPr>
              <a:t>Pandas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Initial analysis included: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Dataset shape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Data types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Missing values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Statistical summary</a:t>
            </a:r>
          </a:p>
          <a:p>
            <a:r>
              <a:rPr lang="en-US" dirty="0">
                <a:solidFill>
                  <a:schemeClr val="tx1"/>
                </a:solidFill>
              </a:rPr>
              <a:t>Helped identify cleaning requirements</a:t>
            </a:r>
          </a:p>
          <a:p>
            <a:endParaRPr lang="en-IN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92097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FF8DB27-228E-674A-1585-B27DECE41D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2330245"/>
            <a:ext cx="8825658" cy="3308555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Exploratory Data Analysis (EDA)</a:t>
            </a:r>
          </a:p>
          <a:p>
            <a:r>
              <a:rPr lang="en-US" dirty="0">
                <a:solidFill>
                  <a:schemeClr val="tx1"/>
                </a:solidFill>
              </a:rPr>
              <a:t>Analyzed patterns and trends</a:t>
            </a:r>
          </a:p>
          <a:p>
            <a:r>
              <a:rPr lang="en-US" dirty="0">
                <a:solidFill>
                  <a:schemeClr val="tx1"/>
                </a:solidFill>
              </a:rPr>
              <a:t>Helped understand feature importance</a:t>
            </a:r>
          </a:p>
          <a:p>
            <a:r>
              <a:rPr lang="en-US" dirty="0">
                <a:solidFill>
                  <a:schemeClr val="tx1"/>
                </a:solidFill>
              </a:rPr>
              <a:t>Guided feature engineering and modeling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679716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418F191-927E-6D99-60D9-5F328921E5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2168013"/>
            <a:ext cx="8825658" cy="3470787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Machine Learning Models Used</a:t>
            </a:r>
          </a:p>
          <a:p>
            <a:r>
              <a:rPr lang="en-US" dirty="0">
                <a:solidFill>
                  <a:schemeClr val="tx1"/>
                </a:solidFill>
              </a:rPr>
              <a:t>Logistic Regression</a:t>
            </a:r>
          </a:p>
          <a:p>
            <a:r>
              <a:rPr lang="en-US" dirty="0">
                <a:solidFill>
                  <a:schemeClr val="tx1"/>
                </a:solidFill>
              </a:rPr>
              <a:t>Support Vector Machine (SVM)</a:t>
            </a:r>
          </a:p>
          <a:p>
            <a:r>
              <a:rPr lang="en-US" dirty="0">
                <a:solidFill>
                  <a:schemeClr val="tx1"/>
                </a:solidFill>
              </a:rPr>
              <a:t>K-Nearest Neighbors (KNN)</a:t>
            </a:r>
          </a:p>
          <a:p>
            <a:r>
              <a:rPr lang="en-US" dirty="0">
                <a:solidFill>
                  <a:schemeClr val="tx1"/>
                </a:solidFill>
              </a:rPr>
              <a:t>Decision Tree</a:t>
            </a:r>
          </a:p>
          <a:p>
            <a:r>
              <a:rPr lang="en-US" dirty="0">
                <a:solidFill>
                  <a:schemeClr val="tx1"/>
                </a:solidFill>
              </a:rPr>
              <a:t>Random Forest</a:t>
            </a:r>
          </a:p>
          <a:p>
            <a:r>
              <a:rPr lang="en-US" dirty="0" err="1">
                <a:solidFill>
                  <a:schemeClr val="tx1"/>
                </a:solidFill>
              </a:rPr>
              <a:t>XGBoost</a:t>
            </a:r>
            <a:endParaRPr lang="en-US" dirty="0">
              <a:solidFill>
                <a:schemeClr val="tx1"/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88437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A2BFEF8-72AE-E461-C9B8-04D505F95C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1902542"/>
            <a:ext cx="8825658" cy="3736258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Interpretation of Results</a:t>
            </a:r>
          </a:p>
          <a:p>
            <a:r>
              <a:rPr lang="en-US" dirty="0">
                <a:solidFill>
                  <a:schemeClr val="tx1"/>
                </a:solidFill>
              </a:rPr>
              <a:t>Toss decision influenced outcomes</a:t>
            </a:r>
          </a:p>
          <a:p>
            <a:r>
              <a:rPr lang="en-US" dirty="0">
                <a:solidFill>
                  <a:schemeClr val="tx1"/>
                </a:solidFill>
              </a:rPr>
              <a:t>Venue had significant impact</a:t>
            </a:r>
          </a:p>
          <a:p>
            <a:r>
              <a:rPr lang="en-US" dirty="0">
                <a:solidFill>
                  <a:schemeClr val="tx1"/>
                </a:solidFill>
              </a:rPr>
              <a:t>Team combinations mattered</a:t>
            </a:r>
          </a:p>
          <a:p>
            <a:r>
              <a:rPr lang="en-US" dirty="0">
                <a:solidFill>
                  <a:schemeClr val="tx1"/>
                </a:solidFill>
              </a:rPr>
              <a:t>ML captured complex feature interactions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21699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BE0DFE4-1B23-8FF9-E93F-17153400A0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83091" y="1869868"/>
            <a:ext cx="8825658" cy="3529781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Future Scope</a:t>
            </a:r>
          </a:p>
          <a:p>
            <a:r>
              <a:rPr lang="en-US" dirty="0">
                <a:solidFill>
                  <a:schemeClr val="tx1"/>
                </a:solidFill>
              </a:rPr>
              <a:t>Add player statistics</a:t>
            </a:r>
          </a:p>
          <a:p>
            <a:r>
              <a:rPr lang="en-US" dirty="0">
                <a:solidFill>
                  <a:schemeClr val="tx1"/>
                </a:solidFill>
              </a:rPr>
              <a:t>Real-time prediction system</a:t>
            </a:r>
          </a:p>
          <a:p>
            <a:r>
              <a:rPr lang="en-US" dirty="0">
                <a:solidFill>
                  <a:schemeClr val="tx1"/>
                </a:solidFill>
              </a:rPr>
              <a:t>Deep learning models</a:t>
            </a:r>
          </a:p>
          <a:p>
            <a:r>
              <a:rPr lang="en-US" dirty="0">
                <a:solidFill>
                  <a:schemeClr val="tx1"/>
                </a:solidFill>
              </a:rPr>
              <a:t>Live data API integration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71761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3AD96B1-ABFB-3755-8738-B07221E502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1504335"/>
            <a:ext cx="8825658" cy="4134465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Conclusion</a:t>
            </a:r>
          </a:p>
          <a:p>
            <a:r>
              <a:rPr lang="en-US" dirty="0">
                <a:solidFill>
                  <a:schemeClr val="tx1"/>
                </a:solidFill>
              </a:rPr>
              <a:t>Successfully built ML-based IPL match predictor</a:t>
            </a:r>
          </a:p>
          <a:p>
            <a:r>
              <a:rPr lang="en-US" dirty="0">
                <a:solidFill>
                  <a:schemeClr val="tx1"/>
                </a:solidFill>
              </a:rPr>
              <a:t>End-to-end pipeline implemented</a:t>
            </a:r>
          </a:p>
          <a:p>
            <a:r>
              <a:rPr lang="en-US" dirty="0">
                <a:solidFill>
                  <a:schemeClr val="tx1"/>
                </a:solidFill>
              </a:rPr>
              <a:t>Ensemble models delivered best performance</a:t>
            </a:r>
          </a:p>
          <a:p>
            <a:r>
              <a:rPr lang="en-US" dirty="0">
                <a:solidFill>
                  <a:schemeClr val="tx1"/>
                </a:solidFill>
              </a:rPr>
              <a:t>Demonstrates power of ML in sports analytics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673971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20</TotalTime>
  <Words>353</Words>
  <Application>Microsoft Office PowerPoint</Application>
  <PresentationFormat>Widescreen</PresentationFormat>
  <Paragraphs>59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Century Gothic</vt:lpstr>
      <vt:lpstr>Wingdings 3</vt:lpstr>
      <vt:lpstr>Ion</vt:lpstr>
      <vt:lpstr>REINFORCEMENT PROJECT IPL Match Winner Prediction Using Machine Learning Prepared by: ASHWATH J L  Course: Data Analytics and Data Science Batch: August – 2025 </vt:lpstr>
      <vt:lpstr>PowerPoint Presentation</vt:lpstr>
      <vt:lpstr>Project Objective    Predict the winner of an IPL match before it is played Use historical IPL match data Compare multiple machine learning algorithms Identify the best-performing predictive model </vt:lpstr>
      <vt:lpstr>Problem Statement  Binary Classification Problem  Predict whether Team 1 or Team 2 will win Based on:  Teams playing Toss winner &amp; decision Venue Season  Challenges:  Categorical data Missing values Class imbalance Model selection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momoayase34@outlook.com</dc:creator>
  <cp:lastModifiedBy>DELL</cp:lastModifiedBy>
  <cp:revision>2</cp:revision>
  <dcterms:created xsi:type="dcterms:W3CDTF">2026-01-23T14:29:19Z</dcterms:created>
  <dcterms:modified xsi:type="dcterms:W3CDTF">2026-01-28T06:43:15Z</dcterms:modified>
</cp:coreProperties>
</file>